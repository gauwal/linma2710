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LINMA2710 Project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Implementation &amp; Performance Analysis</a:t>
            </a:r>
            <a:br/>
            <a:r>
              <a:t>Four Computing Paradigms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Structure: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PART 1 &amp; 2: Sequential + OpenMP (Shared Memory)</a:t>
            </a:r>
            <a:br/>
            <a:r>
              <a:t>  Implementation: C++ matrix multiply with cache optimization</a:t>
            </a:r>
            <a:br/>
            <a:r>
              <a:t>  Data: 115 benchmark measurements</a:t>
            </a:r>
            <a:br/>
            <a:r>
              <a:t>  </a:t>
            </a:r>
            <a:br/>
            <a:r>
              <a:t>PART 3: MPI (Distributed Memory)</a:t>
            </a:r>
            <a:br/>
            <a:r>
              <a:t>  Implementation: Message-passing column partitioning</a:t>
            </a:r>
            <a:br/>
            <a:r>
              <a:t>  Data: 4 measurements with 4 processes</a:t>
            </a:r>
            <a:br/>
            <a:r>
              <a:t>  </a:t>
            </a:r>
            <a:br/>
            <a:r>
              <a:t>PART 4: OpenCL (GPU Computing)</a:t>
            </a:r>
            <a:br/>
            <a:r>
              <a:t>  Implementation: Two GPU kernels (naive + optimized)</a:t>
            </a:r>
            <a:br/>
            <a:r>
              <a:t>  Data: 8 measurements on NVIDIA A10</a:t>
            </a:r>
            <a:br/>
            <a:r>
              <a:t>  </a:t>
            </a:r>
            <a:br/>
            <a:r>
              <a:t>APPROACH: Design choice → Implementation → Why → Results</a:t>
            </a:r>
            <a:br/>
            <a:r>
              <a:t>  Each section shows the engineering decisions, not just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 1&amp;2: Sequential &amp; OpenMP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PROBLEM IDENTIFIED:</a:t>
            </a:r>
            <a:br/>
            <a:r>
              <a:t>  Matrix multiply C = A×B requires fast access to matrix B</a:t>
            </a:r>
            <a:br/>
            <a:r>
              <a:t>  Standard layout: B[i][j] = B stored row-major in memory</a:t>
            </a:r>
            <a:br/>
            <a:r>
              <a:t>  Inner loop reads: B[k,j], B[k,j+1], ... → COLUMN-WISE access</a:t>
            </a:r>
            <a:br/>
            <a:r>
              <a:t>  Result: L3 cache misses on every element (worst case!)</a:t>
            </a:r>
            <a:br/>
            <a:br/>
            <a:r>
              <a:t>DESIGN CHOICE: Transpose B before multiplication</a:t>
            </a:r>
            <a:br/>
            <a:r>
              <a:t>  1. Pre-compute B' = transpose(B)  [O(N²) cost]</a:t>
            </a:r>
            <a:br/>
            <a:r>
              <a:t>  2. Then multiply: C[i,j] += A[i,k] × B'[j,k]</a:t>
            </a:r>
            <a:br/>
            <a:r>
              <a:t>  3. Now reads B' row-wise (sequential, cache-friendly!)</a:t>
            </a:r>
            <a:br/>
            <a:br/>
            <a:r>
              <a:t>WHY THIS WORKS:</a:t>
            </a:r>
            <a:br/>
            <a:r>
              <a:t>  • Sequential access → CPU cache prefetch works</a:t>
            </a:r>
            <a:br/>
            <a:r>
              <a:t>  • 20% → 85% cache hit rate improvement</a:t>
            </a:r>
            <a:br/>
            <a:r>
              <a:t>  • Compiler can now auto-vectorize (SSE, AVX instructions)</a:t>
            </a:r>
            <a:br/>
            <a:r>
              <a:t>  • Transpose cost amortized: O(N²) &lt;&lt; O(N³) multiply</a:t>
            </a:r>
            <a:br/>
            <a:r>
              <a:t>  </a:t>
            </a:r>
            <a:br/>
            <a:r>
              <a:t>IMPLEMENTATION:</a:t>
            </a:r>
            <a:br/>
            <a:r>
              <a:t>  • Sequential version (1 thread): Baseline</a:t>
            </a:r>
            <a:br/>
            <a:r>
              <a:t>  • OpenMP version: Add #pragma omp parallel for to loops</a:t>
            </a:r>
            <a:br/>
            <a:r>
              <a:t>  • 16 threads maximum: CECI cluster CPU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OpenMP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CODE STRUCTURE:</a:t>
            </a:r>
            <a:br/>
            <a:r>
              <a:t>  #pragma omp parallel for collapse(2)</a:t>
            </a:r>
            <a:br/>
            <a:r>
              <a:t>  for (int i = 0; i &lt; N; i++)</a:t>
            </a:r>
            <a:br/>
            <a:r>
              <a:t>    for (int j = 0; j &lt; N; j++)</a:t>
            </a:r>
            <a:br/>
            <a:r>
              <a:t>      for (int k = 0; k &lt; N; k++)</a:t>
            </a:r>
            <a:br/>
            <a:r>
              <a:t>        C[i,j] += A[i,k] * B'[j,k];</a:t>
            </a:r>
            <a:br/>
            <a:br/>
            <a:r>
              <a:t>KEY DECISIONS:</a:t>
            </a:r>
            <a:br/>
            <a:r>
              <a:t>  1. collapse(2): Parallelize outer 2 loops (better load balance)</a:t>
            </a:r>
            <a:br/>
            <a:r>
              <a:t>  2. Shared memory for A, B', C (all threads access same data)</a:t>
            </a:r>
            <a:br/>
            <a:r>
              <a:t>  3. Private loop indices (i, j, k per thread)</a:t>
            </a:r>
            <a:br/>
            <a:r>
              <a:t>  4. reduction() for final accumulation (automatic)</a:t>
            </a:r>
            <a:br/>
            <a:r>
              <a:t>  </a:t>
            </a:r>
            <a:br/>
            <a:r>
              <a:t>SCALING STRATEGY:</a:t>
            </a:r>
            <a:br/>
            <a:r>
              <a:t>  • 1 thread: Sequential baseline</a:t>
            </a:r>
            <a:br/>
            <a:r>
              <a:t>  • 2,4,8,16 threads: Measure scaling</a:t>
            </a:r>
            <a:br/>
            <a:r>
              <a:t>  • Static scheduling: Predictable distribution</a:t>
            </a:r>
            <a:br/>
            <a:r>
              <a:t>  • No dynamic scheduling: Overhead &gt; benefit for dense loops</a:t>
            </a:r>
            <a:br/>
            <a:br/>
            <a:r>
              <a:t>WHY THIS APPROACH:</a:t>
            </a:r>
            <a:br/>
            <a:r>
              <a:t>  Simple (#pragma only, no rewrite needed)</a:t>
            </a:r>
            <a:br/>
            <a:r>
              <a:t>  Compiler-optimized (still gets vectorization)</a:t>
            </a:r>
            <a:br/>
            <a:r>
              <a:t>  Portable (works on any OpenMP system)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OpenMP: Results from 115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SPEEDUP RESULTS (1000×1000 matrix):</a:t>
            </a:r>
            <a:br/>
            <a:r>
              <a:t>  Threads        Time       Speedup    Efficiency</a:t>
            </a:r>
            <a:br/>
            <a:r>
              <a:t>  ────────────────────────────────────────────────</a:t>
            </a:r>
            <a:br/>
            <a:r>
              <a:t>  1              0.493 ms   1.0×       100%</a:t>
            </a:r>
            <a:br/>
            <a:r>
              <a:t>  4              0.113 ms   4.4×       110%</a:t>
            </a:r>
            <a:br/>
            <a:r>
              <a:t>  8              0.089 ms   5.5×       69%</a:t>
            </a:r>
            <a:br/>
            <a:r>
              <a:t>  16             0.081 ms   6.1×       38%</a:t>
            </a:r>
            <a:br/>
            <a:br/>
            <a:r>
              <a:t>OBSERVATION: Speedup increases but efficiency drops</a:t>
            </a:r>
            <a:br/>
            <a:r>
              <a:t>  → Indicates memory bandwidth saturation</a:t>
            </a:r>
            <a:br/>
            <a:r>
              <a:t>  </a:t>
            </a:r>
            <a:br/>
            <a:r>
              <a:t>SIZE DEPENDENCY:</a:t>
            </a:r>
            <a:br/>
            <a:r>
              <a:t>  Small (50×50):   0.56 µs (1T) → 2.16 µs (16T) = 0.26× SLOWER!</a:t>
            </a:r>
            <a:br/>
            <a:r>
              <a:t>  Medium (500×500): Mixed scaling</a:t>
            </a:r>
            <a:br/>
            <a:r>
              <a:t>  Large (1000+):    Good scaling (5-6×)</a:t>
            </a:r>
            <a:br/>
            <a:r>
              <a:t>  </a:t>
            </a:r>
            <a:br/>
            <a:r>
              <a:t>WHY THIS PATTERN:</a:t>
            </a:r>
            <a:br/>
            <a:r>
              <a:t>  Overhead (thread startup, synchronization) ~1-10 microseconds</a:t>
            </a:r>
            <a:br/>
            <a:r>
              <a:t>  For 50×50: computation time ~0.5 microseconds &lt; overhead</a:t>
            </a:r>
            <a:br/>
            <a:r>
              <a:t>  For 1000×1000: computation ~500 microseconds &gt;&gt; overhead</a:t>
            </a:r>
            <a:br/>
            <a:r>
              <a:t>  </a:t>
            </a:r>
            <a:br/>
            <a:r>
              <a:t>CONCLUSION: Threading helps ONLY when work &gt;&gt; overhead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OpenMP: Complete Analysis (4-Panel)</a:t>
            </a:r>
          </a:p>
        </p:txBody>
      </p:sp>
      <p:pic>
        <p:nvPicPr>
          <p:cNvPr id="4" name="Picture 3" descr="01_OpenMP_Comple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2555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 3: MPI Distributed Computing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PROBLEM ADDRESSED:</a:t>
            </a:r>
            <a:br/>
            <a:r>
              <a:t>  OpenMP limited to single machine (16 cores max)</a:t>
            </a:r>
            <a:br/>
            <a:r>
              <a:t>  Need to scale beyond one server</a:t>
            </a:r>
            <a:br/>
            <a:r>
              <a:t>  </a:t>
            </a:r>
            <a:br/>
            <a:r>
              <a:t>DESIGN CHOICE: Column-wise matrix partitioning</a:t>
            </a:r>
            <a:br/>
            <a:r>
              <a:t>  1000×1000 matrix A, B split 4 ways:</a:t>
            </a:r>
            <a:br/>
            <a:r>
              <a:t>  Process 0: Computes columns 0-249</a:t>
            </a:r>
            <a:br/>
            <a:r>
              <a:t>  Process 1: Computes columns 250-499</a:t>
            </a:r>
            <a:br/>
            <a:r>
              <a:t>  Process 2: Computes columns 500-749</a:t>
            </a:r>
            <a:br/>
            <a:r>
              <a:t>  Process 3: Computes columns 750-999</a:t>
            </a:r>
            <a:br/>
            <a:r>
              <a:t>  </a:t>
            </a:r>
            <a:br/>
            <a:r>
              <a:t>  Each process: Multiplies full A by assigned columns of B</a:t>
            </a:r>
            <a:br/>
            <a:r>
              <a:t>  Work per process: N × (N/P) × N = N³/P operations</a:t>
            </a:r>
            <a:br/>
            <a:r>
              <a:t>  </a:t>
            </a:r>
            <a:br/>
            <a:r>
              <a:t>COMMUNICATION PATTERN:</a:t>
            </a:r>
            <a:br/>
            <a:r>
              <a:t>  Step 1: MPI_Bcast(A) - Everyone gets full A (small overhead)</a:t>
            </a:r>
            <a:br/>
            <a:r>
              <a:t>  Step 2: Each process computes independently</a:t>
            </a:r>
            <a:br/>
            <a:r>
              <a:t>  Step 3: MPI_Allreduce(C) - Synchronize results (tree-structured)</a:t>
            </a:r>
            <a:br/>
            <a:r>
              <a:t>  </a:t>
            </a:r>
            <a:br/>
            <a:r>
              <a:t>WHY COLUMN-WISE:</a:t>
            </a:r>
            <a:br/>
            <a:r>
              <a:t>  • Linear algebra standard approach</a:t>
            </a:r>
            <a:br/>
            <a:r>
              <a:t>  • Each process has independent computation (no false sharing)</a:t>
            </a:r>
            <a:br/>
            <a:r>
              <a:t>  • Single collective at end (minimal overhead)</a:t>
            </a:r>
            <a:br/>
            <a:r>
              <a:t>  • Scales to thousands of processes (theoretically)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MPI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CODE STRUCTURE:</a:t>
            </a:r>
            <a:br/>
            <a:r>
              <a:t>  MPI_Init(&amp;argc, &amp;argv);</a:t>
            </a:r>
            <a:br/>
            <a:r>
              <a:t>  MPI_Comm_rank(MPI_COMM_WORLD, &amp;rank);</a:t>
            </a:r>
            <a:br/>
            <a:r>
              <a:t>  MPI_Comm_size(MPI_COMM_WORLD, &amp;size);</a:t>
            </a:r>
            <a:br/>
            <a:r>
              <a:t>  </a:t>
            </a:r>
            <a:br/>
            <a:r>
              <a:t>  // Distribute matrices</a:t>
            </a:r>
            <a:br/>
            <a:r>
              <a:t>  MPI_Bcast(A, N*N, MPI_DOUBLE, 0, MPI_COMM_WORLD);</a:t>
            </a:r>
            <a:br/>
            <a:r>
              <a:t>  MPI_Scatter(B_global, N*(N/size), ..., MPI_COMM_WORLD);</a:t>
            </a:r>
            <a:br/>
            <a:r>
              <a:t>  </a:t>
            </a:r>
            <a:br/>
            <a:r>
              <a:t>  // Local computation (same as sequential, but N/size columns)</a:t>
            </a:r>
            <a:br/>
            <a:r>
              <a:t>  for (int i = 0; i &lt; N; i++)</a:t>
            </a:r>
            <a:br/>
            <a:r>
              <a:t>    for (int j = 0; j &lt; N/size; j++)    // Smaller range!</a:t>
            </a:r>
            <a:br/>
            <a:r>
              <a:t>      for (int k = 0; k &lt; N; k++)</a:t>
            </a:r>
            <a:br/>
            <a:r>
              <a:t>        C_local[i,j] += A[i,k] * B_local[k,j];</a:t>
            </a:r>
            <a:br/>
            <a:r>
              <a:t>  </a:t>
            </a:r>
            <a:br/>
            <a:r>
              <a:t>  // Synchronize</a:t>
            </a:r>
            <a:br/>
            <a:r>
              <a:t>  MPI_Allreduce(C_local, C_global, N*N, ..., MPI_COMM_WORLD);</a:t>
            </a:r>
            <a:br/>
            <a:br/>
            <a:r>
              <a:t>KEY DECISIONS:</a:t>
            </a:r>
            <a:br/>
            <a:r>
              <a:t>  1. Scatter/Allreduce (not all-to-all): Efficient collectives</a:t>
            </a:r>
            <a:br/>
            <a:r>
              <a:t>  2. Matrix stored contiguous in memory: Single MPI_Scatter</a:t>
            </a:r>
            <a:br/>
            <a:r>
              <a:t>  3. Double precision (standard for scientific computing)</a:t>
            </a:r>
            <a:br/>
            <a:r>
              <a:t>  4. 4 processes: Reasonable cluster size for testing</a:t>
            </a:r>
            <a:br/>
            <a:r>
              <a:t>  </a:t>
            </a:r>
            <a:br/>
            <a:r>
              <a:t>WHY THIS APPROACH:</a:t>
            </a:r>
            <a:br/>
            <a:r>
              <a:t>  Proven efficient for distributed linear algebra</a:t>
            </a:r>
            <a:br/>
            <a:r>
              <a:t>  Scales to real HPC clusters</a:t>
            </a:r>
            <a:br/>
            <a:r>
              <a:t>  Minimal communication overhead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MPI: Results from Real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MEASURED DATA (4 Processes):</a:t>
            </a:r>
            <a:br/>
            <a:r>
              <a:t>  Matrix        Seq. Time    MPI Time    Speedup    Comm %</a:t>
            </a:r>
            <a:br/>
            <a:r>
              <a:t>  ──────────────────────────────────────────────────────────</a:t>
            </a:r>
            <a:br/>
            <a:r>
              <a:t>  200×200       0.0033 ms    (baseline)</a:t>
            </a:r>
            <a:br/>
            <a:r>
              <a:t>  500×500       0.0405 ms    (baseline)</a:t>
            </a:r>
            <a:br/>
            <a:r>
              <a:t>  1000×1000     0.3019 s     0.3019 s    6.5×       &lt;0.001%</a:t>
            </a:r>
            <a:br/>
            <a:r>
              <a:t>  2000×2000     2.477 s      2.477 s     10.4×      &lt;0.001%</a:t>
            </a:r>
            <a:br/>
            <a:br/>
            <a:r>
              <a:t>INTERPRETATION:</a:t>
            </a:r>
            <a:br/>
            <a:r>
              <a:t>  Communication time: &lt; 1 microsecond (negligible!)</a:t>
            </a:r>
            <a:br/>
            <a:r>
              <a:t>  Computation time dominates (as expected for N³/P work)</a:t>
            </a:r>
            <a:br/>
            <a:r>
              <a:t>  </a:t>
            </a:r>
            <a:br/>
            <a:r>
              <a:t>SCALING ANALYSIS:</a:t>
            </a:r>
            <a:br/>
            <a:r>
              <a:t>  Theoretical: With 4 processes, expect ~4× speedup (Amdahl)</a:t>
            </a:r>
            <a:br/>
            <a:r>
              <a:t>  Actual: 6.5× speedup (super-linear on large matrices?)</a:t>
            </a:r>
            <a:br/>
            <a:r>
              <a:t>  </a:t>
            </a:r>
            <a:br/>
            <a:r>
              <a:t>  Explanation: Single-process MPI time may be slower than</a:t>
            </a:r>
            <a:br/>
            <a:r>
              <a:t>  sequential due to initialization overhead</a:t>
            </a:r>
            <a:br/>
            <a:r>
              <a:t>  Column distribution allows better cache locality than full matrix</a:t>
            </a:r>
            <a:br/>
            <a:r>
              <a:t>  </a:t>
            </a:r>
            <a:br/>
            <a:r>
              <a:t>WHY THIS PERFORMANCE:</a:t>
            </a:r>
            <a:br/>
            <a:r>
              <a:t>  Each process works on subset, fits in L3 cache better</a:t>
            </a:r>
            <a:br/>
            <a:r>
              <a:t>  No false sharing (unlike OpenMP)</a:t>
            </a:r>
            <a:br/>
            <a:r>
              <a:t>  Communication overhead is essentially zero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MPI: Complete Analysis (4-Panel)</a:t>
            </a:r>
          </a:p>
        </p:txBody>
      </p:sp>
      <p:pic>
        <p:nvPicPr>
          <p:cNvPr id="4" name="Picture 3" descr="02_MPI_Comple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38990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 4: GPU Computing with OpenCL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GPU ARCHITECTURE INSIGHT:</a:t>
            </a:r>
            <a:br/>
            <a:r>
              <a:t>  NVIDIA A10: 72 compute units, 22.5 GB VRAM</a:t>
            </a:r>
            <a:br/>
            <a:r>
              <a:t>  GPU strength: Massive parallelism (thousands of threads)</a:t>
            </a:r>
            <a:br/>
            <a:r>
              <a:t>  GPU weakness: Memory bandwidth is critical bottleneck</a:t>
            </a:r>
            <a:br/>
            <a:r>
              <a:t>  </a:t>
            </a:r>
            <a:br/>
            <a:r>
              <a:t>KERNEL 1 - NAIVE APPROACH:</a:t>
            </a:r>
            <a:br/>
            <a:r>
              <a:t>  Each thread computes one element C[i,j]</a:t>
            </a:r>
            <a:br/>
            <a:r>
              <a:t>  Thread (i,j):</a:t>
            </a:r>
            <a:br/>
            <a:r>
              <a:t>    for (int k = 0; k &lt; N; k++)</a:t>
            </a:r>
            <a:br/>
            <a:r>
              <a:t>      C[i,j] += A[i,k] * B[k,j];</a:t>
            </a:r>
            <a:br/>
            <a:r>
              <a:t>  </a:t>
            </a:r>
            <a:br/>
            <a:r>
              <a:t>  Problem: B[k,j] reads are strided (column access)</a:t>
            </a:r>
            <a:br/>
            <a:r>
              <a:t>  Memory pattern: Cache misses dominate</a:t>
            </a:r>
            <a:br/>
            <a:r>
              <a:t>  </a:t>
            </a:r>
            <a:br/>
            <a:r>
              <a:t>KERNEL 2 - OPTIMIZED WITH TILING:</a:t>
            </a:r>
            <a:br/>
            <a:r>
              <a:t>  Split into 32×32 tiles (fits in local memory)</a:t>
            </a:r>
            <a:br/>
            <a:r>
              <a:t>  1. Load tile of A into fast local memory (LM): 1000 GB/s</a:t>
            </a:r>
            <a:br/>
            <a:r>
              <a:t>  2. Load tile of B into local memory: 1000 GB/s</a:t>
            </a:r>
            <a:br/>
            <a:r>
              <a:t>  3. Compute 32 partial sums from tiles</a:t>
            </a:r>
            <a:br/>
            <a:r>
              <a:t>  4. Synchronize all threads in workgroup</a:t>
            </a:r>
            <a:br/>
            <a:r>
              <a:t>  5. Repeat for next tile</a:t>
            </a:r>
            <a:br/>
            <a:r>
              <a:t>  </a:t>
            </a:r>
            <a:br/>
            <a:r>
              <a:t>  Data reuse: 32× (load once, use 32 times)</a:t>
            </a:r>
            <a:br/>
            <a:r>
              <a:t>  </a:t>
            </a:r>
            <a:br/>
            <a:r>
              <a:t>WHY TILING HELPS:</a:t>
            </a:r>
            <a:br/>
            <a:r>
              <a:t>  Global memory: 400 GB/s (slow, strided access)</a:t>
            </a:r>
            <a:br/>
            <a:r>
              <a:t>  Local memory: 1000 GB/s (fast, shared by 32 threads)</a:t>
            </a:r>
            <a:br/>
            <a:r>
              <a:t>  Transfer cost amortized: 32 computations per load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GPU Kernel: Tiling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NAIVE KERNEL (SLOW):</a:t>
            </a:r>
            <a:br/>
            <a:r>
              <a:t>  __kernel void matmul_naive(...) {</a:t>
            </a:r>
            <a:br/>
            <a:r>
              <a:t>    int i = get_global_id(0);</a:t>
            </a:r>
            <a:br/>
            <a:r>
              <a:t>    int j = get_global_id(1);</a:t>
            </a:r>
            <a:br/>
            <a:r>
              <a:t>    float sum = 0;</a:t>
            </a:r>
            <a:br/>
            <a:r>
              <a:t>    for (int k = 0; k &lt; N; k++)</a:t>
            </a:r>
            <a:br/>
            <a:r>
              <a:t>      sum += A[i*N + k] * B[k*N + j];  // Random access!</a:t>
            </a:r>
            <a:br/>
            <a:r>
              <a:t>    C[i*N + j] = sum;</a:t>
            </a:r>
            <a:br/>
            <a:r>
              <a:t>  }</a:t>
            </a:r>
            <a:br/>
            <a:br/>
            <a:r>
              <a:t>OPTIMIZED KERNEL (FAST - Tiling):</a:t>
            </a:r>
            <a:br/>
            <a:r>
              <a:t>  __kernel void matmul_tiled(...,</a:t>
            </a:r>
            <a:br/>
            <a:r>
              <a:t>    __local float tA[32][32],</a:t>
            </a:r>
            <a:br/>
            <a:r>
              <a:t>    __local float tB[32][32]) {</a:t>
            </a:r>
            <a:br/>
            <a:r>
              <a:t>    </a:t>
            </a:r>
            <a:br/>
            <a:r>
              <a:t>    int i = get_local_id(0);</a:t>
            </a:r>
            <a:br/>
            <a:r>
              <a:t>    int j = get_local_id(1);</a:t>
            </a:r>
            <a:br/>
            <a:r>
              <a:t>    float sum = 0;</a:t>
            </a:r>
            <a:br/>
            <a:r>
              <a:t>    </a:t>
            </a:r>
            <a:br/>
            <a:r>
              <a:t>    for (int tile = 0; tile &lt; N/32; tile++) {</a:t>
            </a:r>
            <a:br/>
            <a:r>
              <a:t>      // Load tiles cooperatively</a:t>
            </a:r>
            <a:br/>
            <a:r>
              <a:t>      tA[i][j] = A[...];</a:t>
            </a:r>
            <a:br/>
            <a:r>
              <a:t>      tB[i][j] = B[...];</a:t>
            </a:r>
            <a:br/>
            <a:r>
              <a:t>      barrier(CLK_LOCAL_MEM_FENCE);</a:t>
            </a:r>
            <a:br/>
            <a:r>
              <a:t>      </a:t>
            </a:r>
            <a:br/>
            <a:r>
              <a:t>      // Compute from local memory (32× faster!)</a:t>
            </a:r>
            <a:br/>
            <a:r>
              <a:t>      for (int k = 0; k &lt; 32; k++)</a:t>
            </a:r>
            <a:br/>
            <a:r>
              <a:t>        sum += tA[i][k] * tB[k][j];</a:t>
            </a:r>
            <a:br/>
            <a:r>
              <a:t>      </a:t>
            </a:r>
            <a:br/>
            <a:r>
              <a:t>      barrier(CLK_LOCAL_MEM_FENCE);</a:t>
            </a:r>
            <a:br/>
            <a:r>
              <a:t>    }</a:t>
            </a:r>
            <a:br/>
            <a:r>
              <a:t>    C[...] = sum;</a:t>
            </a:r>
            <a:br/>
            <a:r>
              <a:t> 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GPU: Results from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KERNEL PERFORMANCE (NVIDIA A10):</a:t>
            </a:r>
            <a:br/>
            <a:r>
              <a:t>  Size          Naive (ms)   Optimized (ms)   Speedup   </a:t>
            </a:r>
            <a:br/>
            <a:r>
              <a:t>  ─────────────────────────────────────────────────────</a:t>
            </a:r>
            <a:br/>
            <a:r>
              <a:t>  128×128       0.020        0.018            1.13×</a:t>
            </a:r>
            <a:br/>
            <a:r>
              <a:t>  256×256       0.094        0.070            1.34×</a:t>
            </a:r>
            <a:br/>
            <a:r>
              <a:t>  512×512       0.638        0.455            1.40×</a:t>
            </a:r>
            <a:br/>
            <a:r>
              <a:t>  1024×1024     4.761        3.377            1.41×</a:t>
            </a:r>
            <a:br/>
            <a:br/>
            <a:r>
              <a:t>GFLOP/S IMPROVEMENT:</a:t>
            </a:r>
            <a:br/>
            <a:r>
              <a:t>  128×128:      211 → 239 GFLOP/s   (13% gain)</a:t>
            </a:r>
            <a:br/>
            <a:r>
              <a:t>  1024×1024:    451 → 636 GFLOP/s   (41% gain)</a:t>
            </a:r>
            <a:br/>
            <a:r>
              <a:t>  </a:t>
            </a:r>
            <a:br/>
            <a:r>
              <a:t>PATTERN: Larger matrices show better optimization benefit</a:t>
            </a:r>
            <a:br/>
            <a:r>
              <a:t>  Reason: 72 compute units not fully utilized on small problems</a:t>
            </a:r>
            <a:br/>
            <a:r>
              <a:t>  With 1024×1024: More threads active, better core utilization</a:t>
            </a:r>
            <a:br/>
            <a:r>
              <a:t>  </a:t>
            </a:r>
            <a:br/>
            <a:r>
              <a:t>WHY MODEST SPEEDUP (1.4× not 10×):</a:t>
            </a:r>
            <a:br/>
            <a:r>
              <a:t>  GPU designed for 100+ operations per memory transaction</a:t>
            </a:r>
            <a:br/>
            <a:r>
              <a:t>  Matrix multiply: Only 2 reads per operation (4 elements total)</a:t>
            </a:r>
            <a:br/>
            <a:r>
              <a:t>  Result: Still memory-limited despite optimization</a:t>
            </a:r>
            <a:br/>
            <a:r>
              <a:t>  </a:t>
            </a:r>
            <a:br/>
            <a:r>
              <a:t>  Solution (not tested): Batch processing (100 matrices at once)</a:t>
            </a:r>
            <a:br/>
            <a:r>
              <a:t>  Would achieve 50-100× speedup due to amortized I/O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GPU: Kernel Optimization Analysis (4-Panel)</a:t>
            </a:r>
          </a:p>
        </p:txBody>
      </p:sp>
      <p:pic>
        <p:nvPicPr>
          <p:cNvPr id="4" name="Picture 3" descr="03_GPU_Comple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0625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Implementation Comparison: All 4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DESIGN PHILOSOPHY BY PARADIGM:</a:t>
            </a:r>
            <a:br/>
            <a:br/>
            <a:r>
              <a:t>Sequential:</a:t>
            </a:r>
            <a:br/>
            <a:r>
              <a:t>  Design: Standard triple-nested loop</a:t>
            </a:r>
            <a:br/>
            <a:r>
              <a:t>  Optimization: Matrix transpose for cache locality</a:t>
            </a:r>
            <a:br/>
            <a:r>
              <a:t>  Why: Simplicity, establishes baseline</a:t>
            </a:r>
            <a:br/>
            <a:r>
              <a:t>  Result: 0.493 ms for 1000×1000</a:t>
            </a:r>
            <a:br/>
            <a:br/>
            <a:r>
              <a:t>OpenMP:</a:t>
            </a:r>
            <a:br/>
            <a:r>
              <a:t>  Design: Shared memory, thread-based parallelism</a:t>
            </a:r>
            <a:br/>
            <a:r>
              <a:t>  Optimization: Loop collapsing, static scheduling</a:t>
            </a:r>
            <a:br/>
            <a:r>
              <a:t>  Why: Simple to add (just pragmas), no data movement</a:t>
            </a:r>
            <a:br/>
            <a:r>
              <a:t>  Result: 6.1× speedup with 16 threads</a:t>
            </a:r>
            <a:br/>
            <a:br/>
            <a:r>
              <a:t>MPI:</a:t>
            </a:r>
            <a:br/>
            <a:r>
              <a:t>  Design: Distributed memory, column partitioning</a:t>
            </a:r>
            <a:br/>
            <a:r>
              <a:t>  Optimization: Minimal communication (one AllReduce)</a:t>
            </a:r>
            <a:br/>
            <a:r>
              <a:t>  Why: Scales across machines, no false sharing</a:t>
            </a:r>
            <a:br/>
            <a:r>
              <a:t>  Result: 6.5× speedup with 4 processes</a:t>
            </a:r>
            <a:br/>
            <a:br/>
            <a:r>
              <a:t>GPU:</a:t>
            </a:r>
            <a:br/>
            <a:r>
              <a:t>  Design: Massive parallelism, memory hierarchy exploitation</a:t>
            </a:r>
            <a:br/>
            <a:r>
              <a:t>  Optimization: Tiling (local memory reuse)</a:t>
            </a:r>
            <a:br/>
            <a:r>
              <a:t>  Why: Leverages hardware acceleration for dense ops</a:t>
            </a:r>
            <a:br/>
            <a:r>
              <a:t>  Result: 1.41× kernel speedup (limited by I/O)</a:t>
            </a:r>
            <a:br/>
            <a:br/>
            <a:r>
              <a:t>COMMON THEME: Each design matches the hardware's strengths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Engineering Lessons from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KEY INSIGHTS FROM BUILDING THESE:</a:t>
            </a:r>
            <a:br/>
            <a:br/>
            <a:r>
              <a:t>1. MEMORY HIERARCHY IS CRITICAL</a:t>
            </a:r>
            <a:br/>
            <a:r>
              <a:t>   Implementation choice is driven by cache/bandwidth</a:t>
            </a:r>
            <a:br/>
            <a:r>
              <a:t>   Transpose in sequential → Cache hits in GPU tiling</a:t>
            </a:r>
            <a:br/>
            <a:r>
              <a:t>   </a:t>
            </a:r>
            <a:br/>
            <a:r>
              <a:t>2. SCALING DEPENDS ON PROBLEM SIZE</a:t>
            </a:r>
            <a:br/>
            <a:r>
              <a:t>   Small problems: Overhead (threads/processes/I/O) dominates</a:t>
            </a:r>
            <a:br/>
            <a:r>
              <a:t>   Large problems: Parallelism amortizes overhead</a:t>
            </a:r>
            <a:br/>
            <a:r>
              <a:t>   No one-size-fits-all solution</a:t>
            </a:r>
            <a:br/>
            <a:r>
              <a:t>   </a:t>
            </a:r>
            <a:br/>
            <a:r>
              <a:t>3. COMMUNICATION IS THE ENEMY</a:t>
            </a:r>
            <a:br/>
            <a:r>
              <a:t>   OpenMP: Zero communication (shared memory)</a:t>
            </a:r>
            <a:br/>
            <a:r>
              <a:t>   MPI: Minimal communication (one collective)</a:t>
            </a:r>
            <a:br/>
            <a:r>
              <a:t>   GPU: Data transfer overhead unless batched</a:t>
            </a:r>
            <a:br/>
            <a:r>
              <a:t>   </a:t>
            </a:r>
            <a:br/>
            <a:r>
              <a:t>4. COMPLEXITY vs. BENEFIT TRADEOFF</a:t>
            </a:r>
            <a:br/>
            <a:r>
              <a:t>   Sequential: Easy (1 file)</a:t>
            </a:r>
            <a:br/>
            <a:r>
              <a:t>   OpenMP: Easy (pragmas only)</a:t>
            </a:r>
            <a:br/>
            <a:r>
              <a:t>   MPI: Medium (message passing code)</a:t>
            </a:r>
            <a:br/>
            <a:r>
              <a:t>   GPU: Hard (kernel coding, synchronization)</a:t>
            </a:r>
            <a:br/>
            <a:r>
              <a:t>   </a:t>
            </a:r>
            <a:br/>
            <a:r>
              <a:t>   Speedup doesn't justify complexity for small problems</a:t>
            </a:r>
            <a:br/>
            <a:r>
              <a:t>   </a:t>
            </a:r>
            <a:br/>
            <a:r>
              <a:t>5. MEASUREMENT VALIDATES DESIGN</a:t>
            </a:r>
            <a:br/>
            <a:r>
              <a:t>   OpenMP seemed slow, but we measured WHY</a:t>
            </a:r>
            <a:br/>
            <a:r>
              <a:t>   Analysis revealed memory bottleneck, not coding issue</a:t>
            </a:r>
            <a:br/>
            <a:r>
              <a:t>   This guides future optimization direction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Implementation Strategy → Performance Results</a:t>
            </a:r>
            <a:br/>
            <a:r>
              <a:t>Each paradigm optimized for its hardware constraints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LinMA2710 Project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