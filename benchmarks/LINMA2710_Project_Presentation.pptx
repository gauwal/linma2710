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LINMA2710 Project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Matrix Multiplication Across Four Paradigms</a:t>
            </a:r>
            <a:br/>
            <a:r>
              <a:t>Sequential, OpenMP, MPI, and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600">
                <a:solidFill>
                  <a:srgbClr val="333333"/>
                </a:solidFill>
              </a:defRPr>
            </a:pPr>
            <a:r>
              <a:t>✓ 127 benchmark measurements from CECI cluster</a:t>
            </a:r>
            <a:br/>
            <a:r>
              <a:t>✓ Four computing paradigms implemented and tested</a:t>
            </a:r>
            <a:br/>
            <a:r>
              <a:t>✓ Real performance data across matrix sizes 50×50 to 2000×2000</a:t>
            </a:r>
            <a:br/>
            <a:br/>
            <a:r>
              <a:t>PART 1 &amp; 2: OpenMP (Shared Memory)</a:t>
            </a:r>
            <a:br/>
            <a:r>
              <a:t>  → 115 measurements, 1-16 threads</a:t>
            </a:r>
            <a:br/>
            <a:r>
              <a:t>  → Speedup up to 6.1× on large matrices</a:t>
            </a:r>
            <a:br/>
            <a:br/>
            <a:r>
              <a:t>PART 3: MPI (Distributed Memory)</a:t>
            </a:r>
            <a:br/>
            <a:r>
              <a:t>  → 4 measurements with 4 processes</a:t>
            </a:r>
            <a:br/>
            <a:r>
              <a:t>  → 6.5× speedup on 1000×1000 matrix</a:t>
            </a:r>
            <a:br/>
            <a:br/>
            <a:r>
              <a:t>PART 4: GPU (OpenCL on NVIDIA A10)</a:t>
            </a:r>
            <a:br/>
            <a:r>
              <a:t>  → 8 measurements (naive + optimized kernels)</a:t>
            </a:r>
            <a:br/>
            <a:r>
              <a:t>  → 1.4× improvement from optimization</a:t>
            </a:r>
            <a:br/>
            <a:br/>
            <a:r>
              <a:t>KEY INSIGHT: Each paradigm has trade-offs based on problem size and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1 &amp; 2: OpenMP Speedup Analysis (115 Measurements)</a:t>
            </a:r>
          </a:p>
        </p:txBody>
      </p:sp>
      <p:pic>
        <p:nvPicPr>
          <p:cNvPr id="4" name="Picture 3" descr="01_OpenMP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255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OpenMP: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SPEEDUP RESULTS (1000×1000 matrix):</a:t>
            </a:r>
            <a:br/>
            <a:r>
              <a:t>  • 1 thread:   0.493 ms  (baseline)</a:t>
            </a:r>
            <a:br/>
            <a:r>
              <a:t>  • 4 threads:  0.113 ms  (4.4× speedup)</a:t>
            </a:r>
            <a:br/>
            <a:r>
              <a:t>  • 8 threads:  0.089 ms  (5.5× speedup)</a:t>
            </a:r>
            <a:br/>
            <a:r>
              <a:t>  • 16 threads: 0.081 ms  (6.1× speedup)</a:t>
            </a:r>
            <a:br/>
            <a:br/>
            <a:r>
              <a:t>SIZE MATTERS:</a:t>
            </a:r>
            <a:br/>
            <a:r>
              <a:t>  • Small matrices (50×50): Threading HURTS (0.26× slowdown)</a:t>
            </a:r>
            <a:br/>
            <a:r>
              <a:t>  • Medium matrices (500×500): Mixed results</a:t>
            </a:r>
            <a:br/>
            <a:r>
              <a:t>  • Large matrices (1000+×1000+): Good scaling (5-6×)</a:t>
            </a:r>
            <a:br/>
            <a:br/>
            <a:r>
              <a:t>REASON: Overhead (thread startup, synchronization) dominates</a:t>
            </a:r>
            <a:br/>
            <a:r>
              <a:t>  for small problems. With large matrices, parallelism wins.</a:t>
            </a:r>
            <a:br/>
            <a:br/>
            <a:r>
              <a:t>DESIGN: Transpose matrix B for cache locality</a:t>
            </a:r>
            <a:br/>
            <a:r>
              <a:t>  → Enables SIMD auto-vectorization by compiler</a:t>
            </a:r>
            <a:br/>
            <a:r>
              <a:t>  → Sequential access pattern instead of strided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3: MPI Performance (4 Processes)</a:t>
            </a:r>
          </a:p>
        </p:txBody>
      </p:sp>
      <p:pic>
        <p:nvPicPr>
          <p:cNvPr id="4" name="Picture 3" descr="02_MPI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2389909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MPI: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PERFORMANCE (4 Processes):</a:t>
            </a:r>
            <a:br/>
            <a:r>
              <a:t>  Matrix Size    Single-Process Time    MPI Time    Speedup</a:t>
            </a:r>
            <a:br/>
            <a:r>
              <a:t>  ─────────────────────────────────────────────────────────</a:t>
            </a:r>
            <a:br/>
            <a:r>
              <a:t>  200×200        0.00326 ms             (baseline)</a:t>
            </a:r>
            <a:br/>
            <a:r>
              <a:t>  500×500        0.0405 ms              (baseline)</a:t>
            </a:r>
            <a:br/>
            <a:r>
              <a:t>  1000×1000      0.302 ms               6.5×</a:t>
            </a:r>
            <a:br/>
            <a:r>
              <a:t>  2000×2000      2.477 ms               10.4×</a:t>
            </a:r>
            <a:br/>
            <a:br/>
            <a:r>
              <a:t>COMMUNICATION OVERHEAD:</a:t>
            </a:r>
            <a:br/>
            <a:r>
              <a:t>  • Negligible: &lt;0.001% (microseconds only)</a:t>
            </a:r>
            <a:br/>
            <a:r>
              <a:t>  • Column-wise partitioning efficient</a:t>
            </a:r>
            <a:br/>
            <a:r>
              <a:t>  • AllReduce cost amortized over O(N³/P) computation</a:t>
            </a:r>
            <a:br/>
            <a:br/>
            <a:r>
              <a:t>SCALING PATTERN:</a:t>
            </a:r>
            <a:br/>
            <a:r>
              <a:t>  • Linear speedup achieved (6.5× with 4 processes)</a:t>
            </a:r>
            <a:br/>
            <a:r>
              <a:t>  • Unlike OpenMP: No false sharing, each process has independent memory</a:t>
            </a:r>
            <a:br/>
            <a:r>
              <a:t>  • MPI better than OpenMP for this workload (6.5× vs 6.1×)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Part 4: GPU Kernels (NVIDIA A10)</a:t>
            </a:r>
          </a:p>
        </p:txBody>
      </p:sp>
      <p:pic>
        <p:nvPicPr>
          <p:cNvPr id="4" name="Picture 3" descr="03_GPU_Complet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0625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GPU: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400">
                <a:solidFill>
                  <a:srgbClr val="333333"/>
                </a:solidFill>
              </a:defRPr>
            </a:pPr>
            <a:r>
              <a:t>TWO KERNEL IMPLEMENTATIONS:</a:t>
            </a:r>
            <a:br/>
            <a:r>
              <a:t>  Naive:       Global memory access (slow)</a:t>
            </a:r>
            <a:br/>
            <a:r>
              <a:t>  Optimized:   Local memory tiling (32× data reuse)</a:t>
            </a:r>
            <a:br/>
            <a:br/>
            <a:r>
              <a:t>PERFORMANCE (Optimized Kernel):</a:t>
            </a:r>
            <a:br/>
            <a:r>
              <a:t>  Matrix Size    Naive       Optimized   Speedup</a:t>
            </a:r>
            <a:br/>
            <a:r>
              <a:t>  ────────────────────────────────────────────────</a:t>
            </a:r>
            <a:br/>
            <a:r>
              <a:t>  128×128        0.020 ms    0.018 ms    1.13×</a:t>
            </a:r>
            <a:br/>
            <a:r>
              <a:t>  256×256        0.094 ms    0.070 ms    1.34×</a:t>
            </a:r>
            <a:br/>
            <a:r>
              <a:t>  512×512        0.638 ms    0.455 ms    1.40×</a:t>
            </a:r>
            <a:br/>
            <a:r>
              <a:t>  1024×1024      4.761 ms    3.377 ms    1.41×</a:t>
            </a:r>
            <a:br/>
            <a:br/>
            <a:r>
              <a:t>GFLOP/s IMPROVEMENT:</a:t>
            </a:r>
            <a:br/>
            <a:r>
              <a:t>  • 128×128:  211 → 239 (13% improvement)</a:t>
            </a:r>
            <a:br/>
            <a:r>
              <a:t>  • 1024×1024: 451 → 636 (41% improvement)</a:t>
            </a:r>
            <a:br/>
            <a:br/>
            <a:r>
              <a:t>KEY INSIGHT:</a:t>
            </a:r>
            <a:br/>
            <a:r>
              <a:t>  Larger matrices benefit more from optimization</a:t>
            </a:r>
            <a:br/>
            <a:r>
              <a:t>  → Better utilization of 72 GPU cores</a:t>
            </a:r>
            <a:br/>
            <a:r>
              <a:t>  → Tiling reduces memory traffic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All 4 Paradigms: 1000×1000 Matrix</a:t>
            </a:r>
          </a:p>
        </p:txBody>
      </p:sp>
      <p:pic>
        <p:nvPicPr>
          <p:cNvPr id="4" name="Picture 3" descr="04_Cross_Paradigm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487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Summary &amp;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/>
            <a:pPr>
              <a:defRPr sz="1500">
                <a:solidFill>
                  <a:srgbClr val="333333"/>
                </a:solidFill>
              </a:defRPr>
            </a:pPr>
            <a:r>
              <a:t>PARADIGM TRADE-OFFS:</a:t>
            </a:r>
            <a:br/>
            <a:br/>
            <a:r>
              <a:t>Sequential:        Baseline, no overhead, single core</a:t>
            </a:r>
            <a:br/>
            <a:r>
              <a:t>                   → Use for: Prototyping, debugging</a:t>
            </a:r>
            <a:br/>
            <a:br/>
            <a:r>
              <a:t>OpenMP (16T):      6.1× speedup on 1000×1000</a:t>
            </a:r>
            <a:br/>
            <a:r>
              <a:t>                   → Use for: Single machine, shared memory</a:t>
            </a:r>
            <a:br/>
            <a:br/>
            <a:r>
              <a:t>MPI (4P):          6.5× speedup, linear scaling</a:t>
            </a:r>
            <a:br/>
            <a:r>
              <a:t>                   → Use for: HPC clusters, distributed computing</a:t>
            </a:r>
            <a:br/>
            <a:br/>
            <a:r>
              <a:t>GPU (Optimized):   1.41× speedup, I/O limited for single matrices</a:t>
            </a:r>
            <a:br/>
            <a:r>
              <a:t>                   → Use for: Batch processing, massive parallelism</a:t>
            </a:r>
            <a:br/>
            <a:br/>
            <a:r>
              <a:t>KEY LESSONS:</a:t>
            </a:r>
            <a:br/>
            <a:r>
              <a:t>  1. Measurement is essential: Surprising results reveal bottlenecks</a:t>
            </a:r>
            <a:br/>
            <a:r>
              <a:t>  2. Problem size matters: Parallelism wins only for large problems</a:t>
            </a:r>
            <a:br/>
            <a:r>
              <a:t>  3. Communication costs: MPI has low overhead, GPU limited by I/O</a:t>
            </a:r>
            <a:br/>
            <a:r>
              <a:t>  4. Trade-offs exist: No universal winner, choose based on hardware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Theoretical Analysis: Scaling Laws</a:t>
            </a:r>
          </a:p>
        </p:txBody>
      </p:sp>
      <p:pic>
        <p:nvPicPr>
          <p:cNvPr id="4" name="Picture 3" descr="06_Scaling_Law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7125554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Thank you!</a:t>
            </a:r>
            <a:br/>
            <a:r>
              <a:t>LinMA2710 Project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